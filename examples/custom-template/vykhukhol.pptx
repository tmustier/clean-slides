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5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3"/>
  </p:notesMasterIdLst>
  <p:sldIdLst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</p:sldIdLst>
  <p:sldSz cx="12192000" cy="6858000"/>
  <p:notesSz cx="7315200" cy="96012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Inter" panose="02000503000000020004" pitchFamily="2" charset="0"/>
      <p:regular r:id="rId8"/>
      <p:bold r:id="rId9"/>
      <p:italic r:id="rId10"/>
      <p:boldItalic r:id="rId11"/>
    </p:embeddedFont>
    <p:embeddedFont>
      <p:font typeface="Segoe UI" panose="020B0502040204020203" pitchFamily="34" charset="0"/>
      <p:regular r:id="rId12"/>
      <p:bold r:id="rId13"/>
      <p:italic r:id="rId14"/>
      <p:boldItalic r:id="rId15"/>
    </p:embeddedFont>
    <p:embeddedFont>
      <p:font typeface="Yu Mincho Demibold" panose="02020400000000000000" pitchFamily="18" charset="-128"/>
      <p:regular r:id="rId16"/>
      <p:bold r:id="rId17"/>
    </p:embeddedFont>
  </p:embeddedFontLst>
  <p:custDataLst>
    <p:tags r:id="rId18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5" autoAdjust="0"/>
    <p:restoredTop sz="94635" autoAdjust="0"/>
  </p:normalViewPr>
  <p:slideViewPr>
    <p:cSldViewPr snapToGrid="0">
      <p:cViewPr varScale="1">
        <p:scale>
          <a:sx n="128" d="100"/>
          <a:sy n="128" d="100"/>
        </p:scale>
        <p:origin x="928" y="168"/>
      </p:cViewPr>
      <p:guideLst/>
    </p:cSldViewPr>
  </p:slideViewPr>
  <p:outlineViewPr>
    <p:cViewPr>
      <p:scale>
        <a:sx n="33" d="100"/>
        <a:sy n="33" d="100"/>
      </p:scale>
      <p:origin x="0" y="-31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4320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tags" Target="tags/tag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.xml"/><Relationship Id="rId24" Type="http://schemas.openxmlformats.org/officeDocument/2006/relationships/slide" Target="slides/slide2.xml"/><Relationship Id="rId25" Type="http://schemas.openxmlformats.org/officeDocument/2006/relationships/slide" Target="slides/slide3.xml"/><Relationship Id="rId26" Type="http://schemas.openxmlformats.org/officeDocument/2006/relationships/slide" Target="slides/slide4.xml"/><Relationship Id="rId27" Type="http://schemas.openxmlformats.org/officeDocument/2006/relationships/slide" Target="slides/slide5.xml"/><Relationship Id="rId28" Type="http://schemas.openxmlformats.org/officeDocument/2006/relationships/slide" Target="slides/slide6.xml"/><Relationship Id="rId29" Type="http://schemas.openxmlformats.org/officeDocument/2006/relationships/slide" Target="slides/slide7.xml"/><Relationship Id="rId30" Type="http://schemas.openxmlformats.org/officeDocument/2006/relationships/slide" Target="slides/slide8.xml"/><Relationship Id="rId31" Type="http://schemas.openxmlformats.org/officeDocument/2006/relationships/slide" Target="slides/slide9.xml"/><Relationship Id="rId32" Type="http://schemas.openxmlformats.org/officeDocument/2006/relationships/slide" Target="slides/slide10.xml"/><Relationship Id="rId33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A3BFE-17F2-A648-BFFB-BC5958CCB0AB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A32A8B-668D-6144-B0A8-58211A00B8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96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8" Type="http://schemas.openxmlformats.org/officeDocument/2006/relationships/image" Target="../media/image2.jpeg"/><Relationship Id="rId9" Type="http://schemas.openxmlformats.org/officeDocument/2006/relationships/oleObject" Target="../embeddings/oleObject2.bin"/><Relationship Id="rId10" Type="http://schemas.openxmlformats.org/officeDocument/2006/relationships/image" Target="../media/image3.emf"/><Relationship Id="rId11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75.xml"/><Relationship Id="rId2" Type="http://schemas.openxmlformats.org/officeDocument/2006/relationships/tags" Target="../tags/tag76.xml"/><Relationship Id="rId3" Type="http://schemas.openxmlformats.org/officeDocument/2006/relationships/tags" Target="../tags/tag77.xml"/><Relationship Id="rId4" Type="http://schemas.openxmlformats.org/officeDocument/2006/relationships/tags" Target="../tags/tag78.xml"/><Relationship Id="rId5" Type="http://schemas.openxmlformats.org/officeDocument/2006/relationships/tags" Target="../tags/tag79.xml"/><Relationship Id="rId6" Type="http://schemas.openxmlformats.org/officeDocument/2006/relationships/tags" Target="../tags/tag80.xml"/><Relationship Id="rId7" Type="http://schemas.openxmlformats.org/officeDocument/2006/relationships/tags" Target="../tags/tag81.xml"/><Relationship Id="rId8" Type="http://schemas.openxmlformats.org/officeDocument/2006/relationships/tags" Target="../tags/tag82.xml"/><Relationship Id="rId9" Type="http://schemas.openxmlformats.org/officeDocument/2006/relationships/tags" Target="../tags/tag83.xml"/><Relationship Id="rId10" Type="http://schemas.openxmlformats.org/officeDocument/2006/relationships/tags" Target="../tags/tag84.xml"/><Relationship Id="rId11" Type="http://schemas.openxmlformats.org/officeDocument/2006/relationships/tags" Target="../tags/tag85.xml"/><Relationship Id="rId12" Type="http://schemas.openxmlformats.org/officeDocument/2006/relationships/tags" Target="../tags/tag86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5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48.xml"/><Relationship Id="rId2" Type="http://schemas.openxmlformats.org/officeDocument/2006/relationships/tags" Target="../tags/tag149.xml"/><Relationship Id="rId3" Type="http://schemas.openxmlformats.org/officeDocument/2006/relationships/tags" Target="../tags/tag150.xml"/><Relationship Id="rId4" Type="http://schemas.openxmlformats.org/officeDocument/2006/relationships/tags" Target="../tags/tag151.xml"/><Relationship Id="rId5" Type="http://schemas.openxmlformats.org/officeDocument/2006/relationships/tags" Target="../tags/tag152.xml"/><Relationship Id="rId6" Type="http://schemas.openxmlformats.org/officeDocument/2006/relationships/tags" Target="../tags/tag153.xml"/><Relationship Id="rId7" Type="http://schemas.openxmlformats.org/officeDocument/2006/relationships/tags" Target="../tags/tag154.xml"/><Relationship Id="rId8" Type="http://schemas.openxmlformats.org/officeDocument/2006/relationships/tags" Target="../tags/tag155.xml"/><Relationship Id="rId9" Type="http://schemas.openxmlformats.org/officeDocument/2006/relationships/tags" Target="../tags/tag156.xml"/><Relationship Id="rId10" Type="http://schemas.openxmlformats.org/officeDocument/2006/relationships/tags" Target="../tags/tag157.xml"/><Relationship Id="rId11" Type="http://schemas.openxmlformats.org/officeDocument/2006/relationships/tags" Target="../tags/tag158.xml"/><Relationship Id="rId12" Type="http://schemas.openxmlformats.org/officeDocument/2006/relationships/tags" Target="../tags/tag159.xml"/><Relationship Id="rId13" Type="http://schemas.openxmlformats.org/officeDocument/2006/relationships/slideMaster" Target="../slideMasters/slideMaster1.xml"/><Relationship Id="rId14" Type="http://schemas.openxmlformats.org/officeDocument/2006/relationships/image" Target="../media/image4.png"/><Relationship Id="rId15" Type="http://schemas.openxmlformats.org/officeDocument/2006/relationships/oleObject" Target="../embeddings/oleObject5.bin"/><Relationship Id="rId16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257.xml"/><Relationship Id="rId2" Type="http://schemas.openxmlformats.org/officeDocument/2006/relationships/tags" Target="../tags/tag258.xml"/><Relationship Id="rId3" Type="http://schemas.openxmlformats.org/officeDocument/2006/relationships/tags" Target="../tags/tag259.xml"/><Relationship Id="rId4" Type="http://schemas.openxmlformats.org/officeDocument/2006/relationships/tags" Target="../tags/tag260.xml"/><Relationship Id="rId5" Type="http://schemas.openxmlformats.org/officeDocument/2006/relationships/tags" Target="../tags/tag261.xml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Contrast"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Background Dark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21" name="Accent Bar"/>
          <p:cNvSpPr/>
          <p:nvPr/>
        </p:nvSpPr>
        <p:spPr>
          <a:xfrm>
            <a:off x="554736" y="594360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1943" y="4092562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1943" y="2049807"/>
            <a:ext cx="6016752" cy="1921708"/>
          </a:xfrm>
          <a:prstGeom prst="rect">
            <a:avLst/>
          </a:prstGeom>
        </p:spPr>
        <p:txBody>
          <a:bodyPr vert="horz" rIns="0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916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554736" y="903863"/>
            <a:ext cx="110825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8159B479-15CC-BF02-3602-0364513E3A8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54736" y="1710000"/>
            <a:ext cx="11082528" cy="473652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2658972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ackground Light"/>
          <p:cNvSpPr>
            <a:spLocks noGrp="1"/>
          </p:cNvSpPr>
          <p:nvPr/>
        </p:nvSpPr>
        <p:spPr>
          <a:xfrm>
            <a:off x="7830313" y="0"/>
            <a:ext cx="4361689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1181907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1181907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54738" y="6501671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3"/>
            <a:ext cx="6967728" cy="276999"/>
          </a:xfrm>
          <a:prstGeom prst="rect">
            <a:avLst/>
          </a:prstGeo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10"/>
            </p:custDataLst>
          </p:nvPr>
        </p:nvSpPr>
        <p:spPr>
          <a:xfrm>
            <a:off x="8173372" y="75436"/>
            <a:ext cx="3466941" cy="129779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r">
              <a:defRPr sz="800">
                <a:latin typeface="Inter" panose="02000503000000020004" charset="0"/>
                <a:ea typeface="Inter" panose="02000503000000020004" charset="0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FBCA9E8-9F85-8B8A-C48C-5BFBD4BA3122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84EAB71-46AA-878D-F992-8A6FA92261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8173371" y="1714001"/>
            <a:ext cx="3465576" cy="4732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FB8C06-FAEA-3560-BCE9-A6CAEFA916A7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54736" y="1713999"/>
            <a:ext cx="6967728" cy="47325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034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rast 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Background Dark"/>
          <p:cNvSpPr>
            <a:spLocks noGrp="1"/>
          </p:cNvSpPr>
          <p:nvPr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6573171" y="1181907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7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11"/>
            </p:custDataLst>
          </p:nvPr>
        </p:nvSpPr>
        <p:spPr>
          <a:xfrm>
            <a:off x="554736" y="903863"/>
            <a:ext cx="5065776" cy="276999"/>
          </a:xfrm>
          <a:prstGeom prst="rect">
            <a:avLst/>
          </a:prstGeo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6" name="Text Placeholder 21">
            <a:extLst>
              <a:ext uri="{FF2B5EF4-FFF2-40B4-BE49-F238E27FC236}">
                <a16:creationId xmlns:a16="http://schemas.microsoft.com/office/drawing/2014/main" id="{A20E8306-064A-4CCE-1158-C9006A757B8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8685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bg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bg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bg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bg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AB20FBC6-0879-399B-13C0-B22D83D4F1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4736" y="1714000"/>
            <a:ext cx="5065776" cy="47325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ct val="114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114000"/>
              </a:lnSpc>
              <a:defRPr>
                <a:solidFill>
                  <a:schemeClr val="tx1"/>
                </a:solidFill>
              </a:defRPr>
            </a:lvl2pPr>
            <a:lvl3pPr>
              <a:lnSpc>
                <a:spcPct val="114000"/>
              </a:lnSpc>
              <a:defRPr>
                <a:solidFill>
                  <a:schemeClr val="tx1"/>
                </a:solidFill>
              </a:defRPr>
            </a:lvl3pPr>
            <a:lvl4pPr>
              <a:lnSpc>
                <a:spcPct val="114000"/>
              </a:lnSpc>
              <a:defRPr>
                <a:solidFill>
                  <a:schemeClr val="tx1"/>
                </a:solidFill>
              </a:defRPr>
            </a:lvl4pPr>
            <a:lvl5pPr>
              <a:lnSpc>
                <a:spcPct val="114000"/>
              </a:lnSpc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9341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/>
        </p:nvSpPr>
        <p:spPr>
          <a:xfrm>
            <a:off x="554736" y="4389120"/>
            <a:ext cx="2743200" cy="36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70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613513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Quote Accent"/>
          <p:cNvSpPr/>
          <p:nvPr/>
        </p:nvSpPr>
        <p:spPr>
          <a:xfrm>
            <a:off x="1188720" y="3474720"/>
            <a:ext cx="36576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505712" y="4284633"/>
            <a:ext cx="9180576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7" y="6498756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1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Inter" panose="02000503000000020004" charset="0"/>
                <a:ea typeface="Inter" panose="02000503000000020004" charset="0"/>
                <a:cs typeface="Arial" panose="020B0604020202020204" pitchFamily="34" charset="0"/>
              </a:rPr>
              <a:pPr algn="r" defTabSz="61071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Inter" panose="02000503000000020004" charset="0"/>
              <a:ea typeface="Inter" panose="02000503000000020004" charset="0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54736" y="6501671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5436"/>
            <a:ext cx="4480560" cy="129779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r">
              <a:defRPr sz="800">
                <a:latin typeface="Trebuchet MS"/>
                <a:ea typeface="Trebuchet MS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069410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7" Type="http://schemas.openxmlformats.org/officeDocument/2006/relationships/slideLayout" Target="../slideLayouts/slideLayout7.xml"/><Relationship Id="rId14" Type="http://schemas.openxmlformats.org/officeDocument/2006/relationships/slideLayout" Target="../slideLayouts/slideLayout14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Relationship Id="rId29" Type="http://schemas.openxmlformats.org/officeDocument/2006/relationships/tags" Target="../tags/tag2.xml"/><Relationship Id="rId30" Type="http://schemas.openxmlformats.org/officeDocument/2006/relationships/tags" Target="../tags/tag3.xml"/><Relationship Id="rId31" Type="http://schemas.openxmlformats.org/officeDocument/2006/relationships/tags" Target="../tags/tag4.xml"/><Relationship Id="rId32" Type="http://schemas.openxmlformats.org/officeDocument/2006/relationships/tags" Target="../tags/tag5.xml"/><Relationship Id="rId33" Type="http://schemas.openxmlformats.org/officeDocument/2006/relationships/tags" Target="../tags/tag6.xml"/><Relationship Id="rId34" Type="http://schemas.openxmlformats.org/officeDocument/2006/relationships/tags" Target="../tags/tag7.xml"/><Relationship Id="rId35" Type="http://schemas.openxmlformats.org/officeDocument/2006/relationships/tags" Target="../tags/tag8.xml"/><Relationship Id="rId36" Type="http://schemas.openxmlformats.org/officeDocument/2006/relationships/tags" Target="../tags/tag9.xml"/><Relationship Id="rId37" Type="http://schemas.openxmlformats.org/officeDocument/2006/relationships/tags" Target="../tags/tag10.xml"/><Relationship Id="rId38" Type="http://schemas.openxmlformats.org/officeDocument/2006/relationships/tags" Target="../tags/tag11.xml"/><Relationship Id="rId39" Type="http://schemas.openxmlformats.org/officeDocument/2006/relationships/tags" Target="../tags/tag12.xml"/><Relationship Id="rId40" Type="http://schemas.openxmlformats.org/officeDocument/2006/relationships/tags" Target="../tags/tag13.xml"/><Relationship Id="rId41" Type="http://schemas.openxmlformats.org/officeDocument/2006/relationships/tags" Target="../tags/tag14.xml"/><Relationship Id="rId42" Type="http://schemas.openxmlformats.org/officeDocument/2006/relationships/tags" Target="../tags/tag15.xml"/><Relationship Id="rId43" Type="http://schemas.openxmlformats.org/officeDocument/2006/relationships/tags" Target="../tags/tag16.xml"/><Relationship Id="rId44" Type="http://schemas.openxmlformats.org/officeDocument/2006/relationships/tags" Target="../tags/tag17.xml"/><Relationship Id="rId45" Type="http://schemas.openxmlformats.org/officeDocument/2006/relationships/tags" Target="../tags/tag18.xml"/><Relationship Id="rId46" Type="http://schemas.openxmlformats.org/officeDocument/2006/relationships/tags" Target="../tags/tag19.xml"/><Relationship Id="rId47" Type="http://schemas.openxmlformats.org/officeDocument/2006/relationships/tags" Target="../tags/tag20.xml"/><Relationship Id="rId48" Type="http://schemas.openxmlformats.org/officeDocument/2006/relationships/tags" Target="../tags/tag21.xml"/><Relationship Id="rId49" Type="http://schemas.openxmlformats.org/officeDocument/2006/relationships/tags" Target="../tags/tag22.xml"/><Relationship Id="rId50" Type="http://schemas.openxmlformats.org/officeDocument/2006/relationships/tags" Target="../tags/tag23.xml"/><Relationship Id="rId51" Type="http://schemas.openxmlformats.org/officeDocument/2006/relationships/oleObject" Target="../embeddings/oleObject1.bin"/><Relationship Id="rId5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>
            <a:cxnSpLocks/>
          </p:cNvCxnSpPr>
          <p:nvPr>
            <p:custDataLst>
              <p:tags r:id="rId32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>
            <a:cxnSpLocks/>
          </p:cNvCxnSpPr>
          <p:nvPr>
            <p:custDataLst>
              <p:tags r:id="rId33"/>
            </p:custDataLst>
          </p:nvPr>
        </p:nvCxnSpPr>
        <p:spPr>
          <a:xfrm>
            <a:off x="554736" y="1181907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553972" y="6279031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63843E5-293C-A78C-1576-0221468E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17100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59248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80" r:id="rId2"/>
    <p:sldLayoutId id="2147483688" r:id="rId7"/>
    <p:sldLayoutId id="2147483707" r:id="rId14"/>
    <p:sldLayoutId id="2147483683" r:id="rId26"/>
    <p:sldLayoutId id="2147483684" r:id="rId27"/>
  </p:sldLayoutIdLst>
  <p:txStyles>
    <p:titleStyle>
      <a:lvl1pPr algn="l" defTabSz="914354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Rockwell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14000"/>
        </a:lnSpc>
        <a:spcBef>
          <a:spcPts val="500"/>
        </a:spcBef>
        <a:spcAft>
          <a:spcPts val="0"/>
        </a:spcAft>
        <a:buFont typeface="Trebuchet MS"/>
        <a:buChar char="​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1pPr>
      <a:lvl2pPr marL="228589" indent="-225414" algn="l" defTabSz="914354" rtl="0" eaLnBrk="1" latinLnBrk="0" hangingPunct="1">
        <a:lnSpc>
          <a:spcPct val="114000"/>
        </a:lnSpc>
        <a:spcBef>
          <a:spcPts val="251"/>
        </a:spcBef>
        <a:spcAft>
          <a:spcPts val="0"/>
        </a:spcAft>
        <a:buFont typeface="Trebuchet MS"/>
        <a:buChar char="•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2pPr>
      <a:lvl3pPr marL="515914" indent="-287323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—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3pPr>
      <a:lvl4pPr marL="742913" indent="-182554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Font typeface="Trebuchet MS"/>
        <a:buChar char="»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4pPr>
      <a:lvl5pPr marL="914354" indent="-136519" algn="l" defTabSz="914354" rtl="0" eaLnBrk="1" latinLnBrk="0" hangingPunct="1">
        <a:lnSpc>
          <a:spcPct val="114000"/>
        </a:lnSpc>
        <a:spcBef>
          <a:spcPts val="125"/>
        </a:spcBef>
        <a:spcAft>
          <a:spcPts val="0"/>
        </a:spcAft>
        <a:buSzPct val="100000"/>
        <a:buFont typeface="Trebuchet MS"/>
        <a:buChar char="›"/>
        <a:defRPr sz="1600" b="0" kern="1200">
          <a:solidFill>
            <a:schemeClr val="tx1"/>
          </a:solidFill>
          <a:latin typeface="+mn-lt"/>
          <a:ea typeface="Trebuchet MS"/>
          <a:cs typeface="Trebuchet MS"/>
        </a:defRPr>
      </a:lvl5pPr>
      <a:lvl6pPr marL="1085797" indent="-171442" algn="l" defTabSz="914354" rtl="0" eaLnBrk="1" latinLnBrk="0" hangingPunct="1">
        <a:lnSpc>
          <a:spcPct val="114000"/>
        </a:lnSpc>
        <a:spcBef>
          <a:spcPts val="0"/>
        </a:spcBef>
        <a:spcAft>
          <a:spcPts val="300"/>
        </a:spcAft>
        <a:buSzPct val="100000"/>
        <a:buFont typeface="Trebuchet MS"/>
        <a:buChar char="◦"/>
        <a:defRPr sz="1600" b="0" kern="1200">
          <a:solidFill>
            <a:schemeClr val="tx1"/>
          </a:solidFill>
          <a:latin typeface="+mn-lt"/>
          <a:ea typeface="+mn-ea"/>
          <a:cs typeface="Trebuchet MS"/>
        </a:defRPr>
      </a:lvl6pPr>
      <a:lvl7pPr marL="914356" indent="0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None/>
        <a:defRPr sz="1600" kern="1200">
          <a:solidFill>
            <a:schemeClr val="tx1"/>
          </a:solidFill>
          <a:latin typeface="Inter" panose="02000503000000020004" pitchFamily="2" charset="0"/>
          <a:ea typeface="Trebuchet MS"/>
          <a:cs typeface="Trebuchet MS"/>
        </a:defRPr>
      </a:lvl7pPr>
      <a:lvl8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8pPr>
      <a:lvl9pPr marL="1085797" indent="-171442" algn="l" defTabSz="914354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Trebuchet MS"/>
        <a:buChar char="▫"/>
        <a:defRPr sz="1600" kern="1200">
          <a:solidFill>
            <a:schemeClr val="tx1"/>
          </a:solidFill>
          <a:latin typeface="+mn-lt"/>
          <a:ea typeface="+mn-ea"/>
          <a:cs typeface="Trebuchet M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24">
          <p15:clr>
            <a:srgbClr val="5ACBF0"/>
          </p15:clr>
        </p15:guide>
        <p15:guide id="3" orient="horz" pos="5216">
          <p15:clr>
            <a:srgbClr val="5ACBF0"/>
          </p15:clr>
        </p15:guide>
        <p15:guide id="4" orient="horz" pos="1433">
          <p15:clr>
            <a:srgbClr val="F26B43"/>
          </p15:clr>
        </p15:guide>
        <p15:guide id="5" pos="9772">
          <p15:clr>
            <a:srgbClr val="F26B43"/>
          </p15:clr>
        </p15:guide>
        <p15:guide id="6" pos="347">
          <p15:clr>
            <a:srgbClr val="F26B43"/>
          </p15:clr>
        </p15:guide>
        <p15:guide id="8" orient="horz" pos="541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stagram.com/desmana_club/" TargetMode="External"/><Relationship Id="rId3" Type="http://schemas.openxmlformats.org/officeDocument/2006/relationships/hyperlink" Target="https://vk.com/desmana_club" TargetMode="External"/><Relationship Id="rId4" Type="http://schemas.openxmlformats.org/officeDocument/2006/relationships/hyperlink" Target="https://takiedela.ru/2021/12/neulovimaya-ischezaushaya/" TargetMode="External"/><Relationship Id="rId5" Type="http://schemas.openxmlformats.org/officeDocument/2006/relationships/hyperlink" Target="https://new.biodiversity.ru/ru/vykhuhol/russkaya-vykhukhol.html" TargetMode="External"/><Relationship Id="rId6" Type="http://schemas.openxmlformats.org/officeDocument/2006/relationships/hyperlink" Target="https://donate.zsl.org/edge-of-existence/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30 million years old, fluffy when wet,</a:t>
            </a:r>
            <a:br/>
            <a:r>
              <a:t>and running out of time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Выхухоль</a:t>
            </a:r>
            <a:br/>
            <a:r>
              <a:t>The Vykhukhol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Mole That Chose Rivers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Vykhukhol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 Mole That Chose Rivers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30-million-year-old charmer with a trunk and a musk gland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5720"/>
            <a:ext cx="1660793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What is it?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554736" y="2389828"/>
            <a:ext cx="1660793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Russian name</a:t>
            </a:r>
          </a:p>
        </p:txBody>
      </p:sp>
      <p:sp>
        <p:nvSpPr>
          <p:cNvPr id="1003" name="TextBox"/>
          <p:cNvSpPr txBox="1">
            <a:spLocks/>
          </p:cNvSpPr>
          <p:nvPr/>
        </p:nvSpPr>
        <p:spPr>
          <a:xfrm>
            <a:off x="554736" y="3023936"/>
            <a:ext cx="1660793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Nickname</a:t>
            </a:r>
          </a:p>
        </p:txBody>
      </p:sp>
      <p:sp>
        <p:nvSpPr>
          <p:cNvPr id="1004" name="TextBox"/>
          <p:cNvSpPr txBox="1">
            <a:spLocks/>
          </p:cNvSpPr>
          <p:nvPr/>
        </p:nvSpPr>
        <p:spPr>
          <a:xfrm>
            <a:off x="554736" y="3658044"/>
            <a:ext cx="1660793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Size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4292152"/>
            <a:ext cx="1660793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Signature move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4926260"/>
            <a:ext cx="1660793" cy="84042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Superpower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5858128"/>
            <a:ext cx="1660793" cy="54267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Status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2352689" y="1755720"/>
            <a:ext cx="9284575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 semiaquatic mole — not a rat, not a shrew. A mole that abandoned dirt for rivers.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2352689" y="2389828"/>
            <a:ext cx="9284575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Выхухоль (vykhukhol) — the only mammal on Earth with 'Russian' in its official name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2352689" y="3023936"/>
            <a:ext cx="9284575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Scientists call her хохуля (khokhulya) — because formality is hard when she's this endearing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2352689" y="3658044"/>
            <a:ext cx="9284575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Fits in your hand: 18–22 cm body + an equally long paddle-tail. 400–520 g — a chunky little thing.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2352689" y="4292152"/>
            <a:ext cx="9284575" cy="54266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Comes out of water, shakes once, instantly dry and fluffy. Like a tiny musky miracle.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2352689" y="4926260"/>
            <a:ext cx="9284575" cy="84042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Functionally blind, but 'sees' through a trunk packed with Eimer's organs — touch receptors so sensitive they detect a crayfish moving in the mud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2352689" y="5858128"/>
            <a:ext cx="9284575" cy="54267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Critically Endangered — fewer than 4,000 left (IUCN, 2023). One step from 'probably extinct'.</a:t>
            </a:r>
          </a:p>
        </p:txBody>
      </p:sp>
      <p:cxnSp>
        <p:nvCxnSpPr>
          <p:cNvPr id="1015" name="Line"/>
          <p:cNvCxnSpPr/>
          <p:nvPr/>
        </p:nvCxnSpPr>
        <p:spPr>
          <a:xfrm>
            <a:off x="554736" y="2344108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6" name="Line"/>
          <p:cNvCxnSpPr/>
          <p:nvPr/>
        </p:nvCxnSpPr>
        <p:spPr>
          <a:xfrm>
            <a:off x="554736" y="2978216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7" name="Line"/>
          <p:cNvCxnSpPr/>
          <p:nvPr/>
        </p:nvCxnSpPr>
        <p:spPr>
          <a:xfrm>
            <a:off x="554736" y="3612324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8" name="Line"/>
          <p:cNvCxnSpPr/>
          <p:nvPr/>
        </p:nvCxnSpPr>
        <p:spPr>
          <a:xfrm>
            <a:off x="554736" y="4246432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9" name="Line"/>
          <p:cNvCxnSpPr/>
          <p:nvPr/>
        </p:nvCxnSpPr>
        <p:spPr>
          <a:xfrm>
            <a:off x="554736" y="488054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0" name="Line"/>
          <p:cNvCxnSpPr/>
          <p:nvPr/>
        </p:nvCxnSpPr>
        <p:spPr>
          <a:xfrm>
            <a:off x="554736" y="5812408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Built Different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Every feature is a love letter to semiaquatic life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9719"/>
            <a:ext cx="1409882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Feature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2101778" y="1759719"/>
            <a:ext cx="5420686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Why it matters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128384"/>
            <a:ext cx="69677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74104"/>
            <a:ext cx="1409882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Eyes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2814247"/>
            <a:ext cx="1409882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Feet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3454390"/>
            <a:ext cx="1409882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Tail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4094533"/>
            <a:ext cx="1409882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Heart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4734676"/>
            <a:ext cx="1409882" cy="102597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Healing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852092"/>
            <a:ext cx="1409882" cy="54870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Temperature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2101778" y="2174104"/>
            <a:ext cx="5420686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Pinhead-sized and nearly useless — but who needs sight when your nose can feel a worm twitch underwater?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2101778" y="2814247"/>
            <a:ext cx="5420686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Hind feet fully webbed with stiff hair fringes; like tiny flippers on a teddy bear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2101778" y="3454390"/>
            <a:ext cx="5420686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Laterally flattened rudder — plus that musk gland, her personal GPS to find her own front door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2101778" y="4094533"/>
            <a:ext cx="5420686" cy="54870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Extra-thick right ventricle to cope with water pressure squeezing the ribcage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2101778" y="4734676"/>
            <a:ext cx="5420686" cy="1025976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 desman with skin ripped along its entire back was tagged and released. Recaptured 2 days later: fully scarred over, only the fur missing. 'Incredible regeneration — but what kind? So much is unknown.'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2101778" y="5852092"/>
            <a:ext cx="5420686" cy="54870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Can drop body temp to 25°C while staying active — hedgehogs and shrews go torpid at that temperature</a:t>
            </a:r>
          </a:p>
        </p:txBody>
      </p:sp>
      <p:cxnSp>
        <p:nvCxnSpPr>
          <p:cNvPr id="1016" name="Line"/>
          <p:cNvCxnSpPr/>
          <p:nvPr/>
        </p:nvCxnSpPr>
        <p:spPr>
          <a:xfrm>
            <a:off x="554736" y="2768527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7" name="Line"/>
          <p:cNvCxnSpPr/>
          <p:nvPr/>
        </p:nvCxnSpPr>
        <p:spPr>
          <a:xfrm>
            <a:off x="554736" y="3408670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8" name="Line"/>
          <p:cNvCxnSpPr/>
          <p:nvPr/>
        </p:nvCxnSpPr>
        <p:spPr>
          <a:xfrm>
            <a:off x="554736" y="4048813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9" name="Line"/>
          <p:cNvCxnSpPr/>
          <p:nvPr/>
        </p:nvCxnSpPr>
        <p:spPr>
          <a:xfrm>
            <a:off x="554736" y="4688956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0" name="Line"/>
          <p:cNvCxnSpPr/>
          <p:nvPr/>
        </p:nvCxnSpPr>
        <p:spPr>
          <a:xfrm>
            <a:off x="554736" y="5806372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sp>
        <p:nvSpPr>
          <p:cNvPr id="1021" name="TextBox"/>
          <p:cNvSpPr txBox="1">
            <a:spLocks/>
          </p:cNvSpPr>
          <p:nvPr/>
        </p:nvSpPr>
        <p:spPr>
          <a:xfrm>
            <a:off x="8173371" y="1714001"/>
            <a:ext cx="3465576" cy="473251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100" b="1">
                <a:solidFill>
                  <a:schemeClr val="accent1"/>
                </a:solidFill>
                <a:latin typeface="Trebuchet MS"/>
              </a:rPr>
              <a:t>The snoot</a:t>
            </a:r>
          </a:p>
          <a:p>
            <a:pPr lvl="0" algn="l"/>
            <a:r>
              <a:rPr lang="en-US" sz="1100">
                <a:solidFill>
                  <a:schemeClr val="tx1"/>
                </a:solidFill>
                <a:latin typeface="Trebuchet MS"/>
              </a:rPr>
              <a:t>A long, flexible, bilobed proboscis packed with Eimer's organs — clusters of mechanoreceptors that feel vibrations, textures, and tiny prey in pitch-dark water. She hunts entirely by touch.</a:t>
            </a:r>
          </a:p>
          <a:p>
            <a:pPr lvl="0" algn="l"/>
            <a:endParaRPr lang="en-US"/>
          </a:p>
          <a:p>
            <a:pPr lvl="0" algn="l"/>
            <a:r>
              <a:rPr lang="en-US" sz="1100" b="1">
                <a:solidFill>
                  <a:schemeClr val="accent1"/>
                </a:solidFill>
                <a:latin typeface="Trebuchet MS"/>
              </a:rPr>
              <a:t>The floof</a:t>
            </a:r>
          </a:p>
          <a:p>
            <a:pPr lvl="0" algn="l"/>
            <a:r>
              <a:rPr lang="en-US" sz="1100">
                <a:solidFill>
                  <a:schemeClr val="tx1"/>
                </a:solidFill>
                <a:latin typeface="Trebuchet MS"/>
              </a:rPr>
              <a:t>Double-layered fur traps a permanent air bubble. One shake after a dive and she's bone-dry. The coat is so plush that a specialised beetle (Silphopsyllus desmanae) lives in it permanently — evolution's tribute to a great apartment.</a:t>
            </a:r>
          </a:p>
          <a:p>
            <a:pPr lvl="0" algn="l"/>
            <a:endParaRPr lang="en-US"/>
          </a:p>
          <a:p>
            <a:pPr lvl="0" algn="l"/>
            <a:r>
              <a:rPr lang="en-US" sz="1100" b="1">
                <a:solidFill>
                  <a:schemeClr val="accent1"/>
                </a:solidFill>
                <a:latin typeface="Trebuchet MS"/>
              </a:rPr>
              <a:t>The musk</a:t>
            </a:r>
          </a:p>
          <a:p>
            <a:pPr lvl="0" algn="l"/>
            <a:r>
              <a:rPr lang="en-US" sz="1100">
                <a:solidFill>
                  <a:schemeClr val="tx1"/>
                </a:solidFill>
                <a:latin typeface="Trebuchet MS"/>
              </a:rPr>
              <a:t>A pear-shaped gland at the base of the tail secretes a musk so pungent that 18th-century naturalists couldn't hold one for five minutes. Dried tails were placed in linen drawers to repel moths.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in the Floodplain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Day in the Life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Life in the Floodplain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Nocturnal, social, and full of surprises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5720"/>
            <a:ext cx="1880640" cy="87248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Love songs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554736" y="2719645"/>
            <a:ext cx="1880640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Dining style</a:t>
            </a:r>
          </a:p>
        </p:txBody>
      </p:sp>
      <p:sp>
        <p:nvSpPr>
          <p:cNvPr id="1003" name="TextBox"/>
          <p:cNvSpPr txBox="1">
            <a:spLocks/>
          </p:cNvSpPr>
          <p:nvPr/>
        </p:nvSpPr>
        <p:spPr>
          <a:xfrm>
            <a:off x="554736" y="3421812"/>
            <a:ext cx="1880640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Architecture</a:t>
            </a:r>
          </a:p>
        </p:txBody>
      </p:sp>
      <p:sp>
        <p:nvSpPr>
          <p:cNvPr id="1004" name="TextBox"/>
          <p:cNvSpPr txBox="1">
            <a:spLocks/>
          </p:cNvSpPr>
          <p:nvPr/>
        </p:nvSpPr>
        <p:spPr>
          <a:xfrm>
            <a:off x="554736" y="4123979"/>
            <a:ext cx="1880640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Best friend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4826146"/>
            <a:ext cx="1880640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Stress response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5528313"/>
            <a:ext cx="1880640" cy="87248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Defence strategy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2572536" y="1755720"/>
            <a:ext cx="9064728" cy="87248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When a pair bonds, they murmur тю-тю-тю, у-ру-ру to each other. The female feeds the male from her trunk — 'like a restaurant,' says Masha Onufrenya. When one of a bonded pair died, the other 'cried for a whole day. A drawn-out, mournful sound I had never heard before.'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2572536" y="2719645"/>
            <a:ext cx="9064728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Hold one upside down by the tail and offer food on your palm — she'll munch happily, dangling. Favourite: freshwater mussels, opened by scientists like oysters at a bistro.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2572536" y="3421812"/>
            <a:ext cx="9064728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Burrow entrance always underwater, the nursery above the waterline. The dad takes over childcare while mum digs herself a quiet side-room to escape 'the nagging offspring.'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2572536" y="4123979"/>
            <a:ext cx="9064728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The beaver. Beavers tear apart abandoned fishing nets, clearing safe corridors. Desmans move in behind them and sometimes dig a little burrow right inside the beaver lodge.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2572536" y="4826146"/>
            <a:ext cx="9064728" cy="61072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 'gentle daisy' (нежная ромашка). When two males were caught together, one rose on hind legs to fight. The other dropped dead from fright — before being touched.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2572536" y="5528313"/>
            <a:ext cx="9064728" cy="87248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Block her exit and she simply digs a new one. 'The fewer there are, the sneakier they get,' says Rutovskaya. Volunteers joke: '5 years of surveys, never seen one. Our theory: desmans are extinct and the burrows are made by giant worms.'</a:t>
            </a:r>
          </a:p>
        </p:txBody>
      </p:sp>
      <p:cxnSp>
        <p:nvCxnSpPr>
          <p:cNvPr id="1013" name="Line"/>
          <p:cNvCxnSpPr/>
          <p:nvPr/>
        </p:nvCxnSpPr>
        <p:spPr>
          <a:xfrm>
            <a:off x="554736" y="2673925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4" name="Line"/>
          <p:cNvCxnSpPr/>
          <p:nvPr/>
        </p:nvCxnSpPr>
        <p:spPr>
          <a:xfrm>
            <a:off x="554736" y="3376092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5" name="Line"/>
          <p:cNvCxnSpPr/>
          <p:nvPr/>
        </p:nvCxnSpPr>
        <p:spPr>
          <a:xfrm>
            <a:off x="554736" y="407825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6" name="Line"/>
          <p:cNvCxnSpPr/>
          <p:nvPr/>
        </p:nvCxnSpPr>
        <p:spPr>
          <a:xfrm>
            <a:off x="554736" y="4780426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7" name="Line"/>
          <p:cNvCxnSpPr/>
          <p:nvPr/>
        </p:nvCxnSpPr>
        <p:spPr>
          <a:xfrm>
            <a:off x="554736" y="5482593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of Extinction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Nearly Lost Them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Edge of Extinction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fur coats to fishing nets — a century of decline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5720"/>
            <a:ext cx="2554559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Period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3246455" y="1755720"/>
            <a:ext cx="3933422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Population</a:t>
            </a:r>
          </a:p>
        </p:txBody>
      </p:sp>
      <p:sp>
        <p:nvSpPr>
          <p:cNvPr id="1003" name="TextBox"/>
          <p:cNvSpPr txBox="1">
            <a:spLocks/>
          </p:cNvSpPr>
          <p:nvPr/>
        </p:nvSpPr>
        <p:spPr>
          <a:xfrm>
            <a:off x="7271317" y="1755720"/>
            <a:ext cx="4365947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What happened</a:t>
            </a:r>
          </a:p>
        </p:txBody>
      </p:sp>
      <p:cxnSp>
        <p:nvCxnSpPr>
          <p:cNvPr id="1004" name="Line"/>
          <p:cNvCxnSpPr/>
          <p:nvPr/>
        </p:nvCxnSpPr>
        <p:spPr>
          <a:xfrm>
            <a:off x="554736" y="2124385"/>
            <a:ext cx="110825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5" name="TextBox"/>
          <p:cNvSpPr txBox="1">
            <a:spLocks/>
          </p:cNvSpPr>
          <p:nvPr/>
        </p:nvSpPr>
        <p:spPr>
          <a:xfrm>
            <a:off x="554736" y="2170105"/>
            <a:ext cx="2554559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Pre-1900s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2848322"/>
            <a:ext cx="2554559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1920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3526539"/>
            <a:ext cx="2554559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1970s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4204756"/>
            <a:ext cx="2554559" cy="83960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1990s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135803"/>
            <a:ext cx="2554559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2001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554736" y="5814020"/>
            <a:ext cx="2554559" cy="58678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2023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3246455" y="2170105"/>
            <a:ext cx="3933422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Abundant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7271317" y="2170105"/>
            <a:ext cx="4365947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Hunted for fur and castoreum musk — tails were used in French perfume and linen drawers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3246455" y="2848322"/>
            <a:ext cx="3933422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Collapse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7271317" y="2848322"/>
            <a:ext cx="4365947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Hunting ban; creation of the Oka Nature Reserve — specifically to save the desman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3246455" y="3526539"/>
            <a:ext cx="3933422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~70,000</a:t>
            </a:r>
          </a:p>
        </p:txBody>
      </p:sp>
      <p:sp>
        <p:nvSpPr>
          <p:cNvPr id="1016" name="TextBox"/>
          <p:cNvSpPr txBox="1">
            <a:spLocks/>
          </p:cNvSpPr>
          <p:nvPr/>
        </p:nvSpPr>
        <p:spPr>
          <a:xfrm>
            <a:off x="7271317" y="3526539"/>
            <a:ext cx="4365947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Recovery, but then dams and drainage begin destroying floodplain habitat</a:t>
            </a:r>
          </a:p>
        </p:txBody>
      </p:sp>
      <p:sp>
        <p:nvSpPr>
          <p:cNvPr id="1017" name="TextBox"/>
          <p:cNvSpPr txBox="1">
            <a:spLocks/>
          </p:cNvSpPr>
          <p:nvPr/>
        </p:nvSpPr>
        <p:spPr>
          <a:xfrm>
            <a:off x="3246455" y="4204756"/>
            <a:ext cx="3933422" cy="83960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Crash</a:t>
            </a:r>
          </a:p>
        </p:txBody>
      </p:sp>
      <p:sp>
        <p:nvSpPr>
          <p:cNvPr id="1018" name="TextBox"/>
          <p:cNvSpPr txBox="1">
            <a:spLocks/>
          </p:cNvSpPr>
          <p:nvPr/>
        </p:nvSpPr>
        <p:spPr>
          <a:xfrm>
            <a:off x="7271317" y="4204756"/>
            <a:ext cx="4365947" cy="83960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Cheap Chinese nylon nets flood Russia — a 'conveyor belt of death'; desmans drown in 5–10 min</a:t>
            </a:r>
          </a:p>
        </p:txBody>
      </p:sp>
      <p:sp>
        <p:nvSpPr>
          <p:cNvPr id="1019" name="TextBox"/>
          <p:cNvSpPr txBox="1">
            <a:spLocks/>
          </p:cNvSpPr>
          <p:nvPr/>
        </p:nvSpPr>
        <p:spPr>
          <a:xfrm>
            <a:off x="3246455" y="5135803"/>
            <a:ext cx="3933422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27,120</a:t>
            </a:r>
          </a:p>
        </p:txBody>
      </p:sp>
      <p:sp>
        <p:nvSpPr>
          <p:cNvPr id="1020" name="TextBox"/>
          <p:cNvSpPr txBox="1">
            <a:spLocks/>
          </p:cNvSpPr>
          <p:nvPr/>
        </p:nvSpPr>
        <p:spPr>
          <a:xfrm>
            <a:off x="7271317" y="5135803"/>
            <a:ext cx="4365947" cy="58677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First proper survey reveals the toll; nets, electric fishing, and muskrat competition</a:t>
            </a:r>
          </a:p>
        </p:txBody>
      </p:sp>
      <p:sp>
        <p:nvSpPr>
          <p:cNvPr id="1021" name="TextBox"/>
          <p:cNvSpPr txBox="1">
            <a:spLocks/>
          </p:cNvSpPr>
          <p:nvPr/>
        </p:nvSpPr>
        <p:spPr>
          <a:xfrm>
            <a:off x="3246455" y="5814020"/>
            <a:ext cx="3933422" cy="58678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&lt;4,000</a:t>
            </a:r>
          </a:p>
        </p:txBody>
      </p:sp>
      <p:sp>
        <p:nvSpPr>
          <p:cNvPr id="1022" name="TextBox"/>
          <p:cNvSpPr txBox="1">
            <a:spLocks/>
          </p:cNvSpPr>
          <p:nvPr/>
        </p:nvSpPr>
        <p:spPr>
          <a:xfrm>
            <a:off x="7271317" y="5814020"/>
            <a:ext cx="4365947" cy="58678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IUCN uplists to Critically Endangered. Next step: 'probably extinct.'</a:t>
            </a:r>
          </a:p>
        </p:txBody>
      </p:sp>
      <p:cxnSp>
        <p:nvCxnSpPr>
          <p:cNvPr id="1023" name="Line"/>
          <p:cNvCxnSpPr/>
          <p:nvPr/>
        </p:nvCxnSpPr>
        <p:spPr>
          <a:xfrm>
            <a:off x="554736" y="2802602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4" name="Line"/>
          <p:cNvCxnSpPr/>
          <p:nvPr/>
        </p:nvCxnSpPr>
        <p:spPr>
          <a:xfrm>
            <a:off x="554736" y="3480819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5" name="Line"/>
          <p:cNvCxnSpPr/>
          <p:nvPr/>
        </p:nvCxnSpPr>
        <p:spPr>
          <a:xfrm>
            <a:off x="554736" y="4159036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6" name="Line"/>
          <p:cNvCxnSpPr/>
          <p:nvPr/>
        </p:nvCxnSpPr>
        <p:spPr>
          <a:xfrm>
            <a:off x="554736" y="5090083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7" name="Line"/>
          <p:cNvCxnSpPr/>
          <p:nvPr/>
        </p:nvCxnSpPr>
        <p:spPr>
          <a:xfrm>
            <a:off x="554736" y="5768300"/>
            <a:ext cx="110825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Threats &amp; Hope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What's killing them — and who is fighting back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Edge of Extinction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9720"/>
            <a:ext cx="1515921" cy="29051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tx1"/>
                </a:solidFill>
                <a:latin typeface="Rockwell"/>
              </a:rPr>
              <a:t>Threat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2207817" y="1759720"/>
            <a:ext cx="3412695" cy="29051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tx1"/>
                </a:solidFill>
                <a:latin typeface="Rockwell"/>
              </a:rPr>
              <a:t>Impact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095955"/>
            <a:ext cx="5065776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41675"/>
            <a:ext cx="1515921" cy="91283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Fishing nets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3145952"/>
            <a:ext cx="1515921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Electric fishing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3731454"/>
            <a:ext cx="1515921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Dams &amp; drainage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554736" y="4316956"/>
            <a:ext cx="1515921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Drought &amp; climate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554736" y="4902458"/>
            <a:ext cx="1515921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Invasive species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554736" y="5487960"/>
            <a:ext cx="1515921" cy="91284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Rockwell"/>
              </a:rPr>
              <a:t>Funding</a:t>
            </a:r>
          </a:p>
        </p:txBody>
      </p:sp>
      <p:sp>
        <p:nvSpPr>
          <p:cNvPr id="1010" name="TextBox"/>
          <p:cNvSpPr txBox="1">
            <a:spLocks/>
          </p:cNvSpPr>
          <p:nvPr/>
        </p:nvSpPr>
        <p:spPr>
          <a:xfrm>
            <a:off x="2207817" y="2141675"/>
            <a:ext cx="3412695" cy="912837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Cheap nylon nets — abandoned for months — drown desmans in 5–10 minutes. Banned as imports, but net-making materials are still legal.</a:t>
            </a:r>
          </a:p>
        </p:txBody>
      </p:sp>
      <p:sp>
        <p:nvSpPr>
          <p:cNvPr id="1011" name="TextBox"/>
          <p:cNvSpPr txBox="1">
            <a:spLocks/>
          </p:cNvSpPr>
          <p:nvPr/>
        </p:nvSpPr>
        <p:spPr>
          <a:xfrm>
            <a:off x="2207817" y="3145952"/>
            <a:ext cx="3412695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Poacher devices annihilate the invertebrate prey base</a:t>
            </a:r>
          </a:p>
        </p:txBody>
      </p:sp>
      <p:sp>
        <p:nvSpPr>
          <p:cNvPr id="1012" name="TextBox"/>
          <p:cNvSpPr txBox="1">
            <a:spLocks/>
          </p:cNvSpPr>
          <p:nvPr/>
        </p:nvSpPr>
        <p:spPr>
          <a:xfrm>
            <a:off x="2207817" y="3731454"/>
            <a:ext cx="3412695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Block seasonal floods that create the oxbow lakes desmans need to survive</a:t>
            </a:r>
          </a:p>
        </p:txBody>
      </p:sp>
      <p:sp>
        <p:nvSpPr>
          <p:cNvPr id="1013" name="TextBox"/>
          <p:cNvSpPr txBox="1">
            <a:spLocks/>
          </p:cNvSpPr>
          <p:nvPr/>
        </p:nvSpPr>
        <p:spPr>
          <a:xfrm>
            <a:off x="2207817" y="4316956"/>
            <a:ext cx="3412695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Lakes dry out in autumn; winter thaws flood burrows and drown families inside</a:t>
            </a:r>
          </a:p>
        </p:txBody>
      </p:sp>
      <p:sp>
        <p:nvSpPr>
          <p:cNvPr id="1014" name="TextBox"/>
          <p:cNvSpPr txBox="1">
            <a:spLocks/>
          </p:cNvSpPr>
          <p:nvPr/>
        </p:nvSpPr>
        <p:spPr>
          <a:xfrm>
            <a:off x="2207817" y="4902458"/>
            <a:ext cx="3412695" cy="494062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Muskrats and nutria — imported from America — compete for den sites and food</a:t>
            </a:r>
          </a:p>
        </p:txBody>
      </p:sp>
      <p:sp>
        <p:nvSpPr>
          <p:cNvPr id="1015" name="TextBox"/>
          <p:cNvSpPr txBox="1">
            <a:spLocks/>
          </p:cNvSpPr>
          <p:nvPr/>
        </p:nvSpPr>
        <p:spPr>
          <a:xfrm>
            <a:off x="2207817" y="5487960"/>
            <a:ext cx="3412695" cy="91284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200">
                <a:solidFill>
                  <a:schemeClr val="tx1"/>
                </a:solidFill>
                <a:latin typeface="Trebuchet MS"/>
              </a:rPr>
              <a:t>Scientists self-fund field surveys. Rutovskaya and her programmer son Ilya split expenses. Students work for food. 'The Academy of Sciences is poor.'</a:t>
            </a:r>
          </a:p>
        </p:txBody>
      </p:sp>
      <p:cxnSp>
        <p:nvCxnSpPr>
          <p:cNvPr id="1016" name="Line"/>
          <p:cNvCxnSpPr/>
          <p:nvPr/>
        </p:nvCxnSpPr>
        <p:spPr>
          <a:xfrm>
            <a:off x="554736" y="3100232"/>
            <a:ext cx="5065776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7" name="Line"/>
          <p:cNvCxnSpPr/>
          <p:nvPr/>
        </p:nvCxnSpPr>
        <p:spPr>
          <a:xfrm>
            <a:off x="554736" y="3685734"/>
            <a:ext cx="5065776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8" name="Line"/>
          <p:cNvCxnSpPr/>
          <p:nvPr/>
        </p:nvCxnSpPr>
        <p:spPr>
          <a:xfrm>
            <a:off x="554736" y="4271236"/>
            <a:ext cx="5065776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9" name="Line"/>
          <p:cNvCxnSpPr/>
          <p:nvPr/>
        </p:nvCxnSpPr>
        <p:spPr>
          <a:xfrm>
            <a:off x="554736" y="4856738"/>
            <a:ext cx="5065776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20" name="Line"/>
          <p:cNvCxnSpPr/>
          <p:nvPr/>
        </p:nvCxnSpPr>
        <p:spPr>
          <a:xfrm>
            <a:off x="554736" y="5442240"/>
            <a:ext cx="5065776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sp>
        <p:nvSpPr>
          <p:cNvPr id="1021" name="TextBox"/>
          <p:cNvSpPr txBox="1">
            <a:spLocks/>
          </p:cNvSpPr>
          <p:nvPr/>
        </p:nvSpPr>
        <p:spPr>
          <a:xfrm>
            <a:off x="6568685" y="1714000"/>
            <a:ext cx="5065776" cy="473252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lt1"/>
                </a:solidFill>
                <a:latin typeface="Trebuchet MS"/>
              </a:rPr>
              <a:t>Signs of hope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Oka Reserve Onufrenis have restored ~50 lakes by excavating dried-out oxbow beds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BCC received a 2020 presidential grant for a captive breeding nursery near Moscow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Desmana Club volunteers count burrows across multiple reserves every autumn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Complete genome sequenced (2025) — enables genetic rescue planning</a:t>
            </a:r>
          </a:p>
          <a:p>
            <a:pPr lvl="0" algn="l"/>
            <a:endParaRPr lang="en-US"/>
          </a:p>
          <a:p>
            <a:pPr lvl="0" algn="l"/>
            <a:r>
              <a:rPr lang="en-US" sz="1400" b="1">
                <a:solidFill>
                  <a:schemeClr val="lt1"/>
                </a:solidFill>
                <a:latin typeface="Trebuchet MS"/>
              </a:rPr>
              <a:t>What's still needed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Ban nylon nets in desman watersheds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Restore floodplain hydrology — let the rivers breathe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Fund lake restoration: 300,000 ₽ (~$3k) per lake, but you need to do several at once or the excavator won't come</a:t>
            </a:r>
          </a:p>
          <a:p>
            <a:pPr lvl="0" algn="l"/>
            <a:r>
              <a:rPr lang="en-US" sz="1200">
                <a:solidFill>
                  <a:schemeClr val="lt1"/>
                </a:solidFill>
                <a:latin typeface="Trebuchet MS"/>
              </a:rPr>
              <a:t>• Tell people they exist — most Russians have never heard of them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Can Help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researchers. Fewer than 4,000 animals. 300,000 ₽ per lake.</a:t>
            </a:r>
          </a:p>
        </p:txBody>
      </p:sp>
      <p:sp>
        <p:nvSpPr>
          <p:cNvPr id="1001" name="TextBox"/>
          <p:cNvSpPr txBox="1">
            <a:spLocks/>
          </p:cNvSpPr>
          <p:nvPr/>
        </p:nvSpPr>
        <p:spPr>
          <a:xfrm>
            <a:off x="554736" y="1759719"/>
            <a:ext cx="3290258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Organisation</a:t>
            </a:r>
          </a:p>
        </p:txBody>
      </p:sp>
      <p:sp>
        <p:nvSpPr>
          <p:cNvPr id="1002" name="TextBox"/>
          <p:cNvSpPr txBox="1">
            <a:spLocks/>
          </p:cNvSpPr>
          <p:nvPr/>
        </p:nvSpPr>
        <p:spPr>
          <a:xfrm>
            <a:off x="3982154" y="1759719"/>
            <a:ext cx="3540310" cy="322945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tx1"/>
                </a:solidFill>
                <a:latin typeface="Rockwell"/>
              </a:rPr>
              <a:t>What they do &amp; how to support</a:t>
            </a:r>
          </a:p>
        </p:txBody>
      </p:sp>
      <p:cxnSp>
        <p:nvCxnSpPr>
          <p:cNvPr id="1003" name="Line"/>
          <p:cNvCxnSpPr/>
          <p:nvPr/>
        </p:nvCxnSpPr>
        <p:spPr>
          <a:xfrm>
            <a:off x="554736" y="2128384"/>
            <a:ext cx="6967728" cy="0"/>
          </a:xfrm>
          <a:prstGeom prst="line">
            <a:avLst/>
          </a:prstGeom>
          <a:ln w="19050">
            <a:solidFill>
              <a:schemeClr val="tx1"/>
            </a:solidFill>
          </a:ln>
        </p:spPr>
      </p:cxnSp>
      <p:sp>
        <p:nvSpPr>
          <p:cNvPr id="1004" name="TextBox"/>
          <p:cNvSpPr txBox="1">
            <a:spLocks/>
          </p:cNvSpPr>
          <p:nvPr/>
        </p:nvSpPr>
        <p:spPr>
          <a:xfrm>
            <a:off x="554736" y="2174104"/>
            <a:ext cx="3290258" cy="150744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Biodiversity Conservation Center (ЦОДП)</a:t>
            </a:r>
          </a:p>
        </p:txBody>
      </p:sp>
      <p:sp>
        <p:nvSpPr>
          <p:cNvPr id="1005" name="TextBox"/>
          <p:cNvSpPr txBox="1">
            <a:spLocks/>
          </p:cNvSpPr>
          <p:nvPr/>
        </p:nvSpPr>
        <p:spPr>
          <a:xfrm>
            <a:off x="554736" y="3772992"/>
            <a:ext cx="3290258" cy="126818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ZSL EDGE of Existence</a:t>
            </a:r>
          </a:p>
        </p:txBody>
      </p:sp>
      <p:sp>
        <p:nvSpPr>
          <p:cNvPr id="1006" name="TextBox"/>
          <p:cNvSpPr txBox="1">
            <a:spLocks/>
          </p:cNvSpPr>
          <p:nvPr/>
        </p:nvSpPr>
        <p:spPr>
          <a:xfrm>
            <a:off x="554736" y="5132615"/>
            <a:ext cx="3290258" cy="126818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600" b="1">
                <a:solidFill>
                  <a:schemeClr val="accent1"/>
                </a:solidFill>
                <a:latin typeface="Rockwell"/>
              </a:rPr>
              <a:t>Такие дела (takiedela.ru)</a:t>
            </a:r>
          </a:p>
        </p:txBody>
      </p:sp>
      <p:sp>
        <p:nvSpPr>
          <p:cNvPr id="1007" name="TextBox"/>
          <p:cNvSpPr txBox="1">
            <a:spLocks/>
          </p:cNvSpPr>
          <p:nvPr/>
        </p:nvSpPr>
        <p:spPr>
          <a:xfrm>
            <a:off x="3982154" y="2174104"/>
            <a:ext cx="3540310" cy="1507448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Moscow NGO behind the 'Save the Russian Desman!' project since 2000. Received 2020 presidential grant for a captive breeding nursery. </a:t>
            </a:r>
            <a:r>
              <a:rPr lang="en-US" sz="1400" u="sng">
                <a:solidFill>
                  <a:schemeClr val="accent1"/>
                </a:solidFill>
                <a:latin typeface="Trebuchet MS"/>
                <a:hlinkClick r:id="rId5"/>
              </a:rPr>
              <a:t>biodiversity.ru</a:t>
            </a:r>
          </a:p>
        </p:txBody>
      </p:sp>
      <p:sp>
        <p:nvSpPr>
          <p:cNvPr id="1008" name="TextBox"/>
          <p:cNvSpPr txBox="1">
            <a:spLocks/>
          </p:cNvSpPr>
          <p:nvPr/>
        </p:nvSpPr>
        <p:spPr>
          <a:xfrm>
            <a:off x="3982154" y="3772992"/>
            <a:ext cx="3540310" cy="126818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Ranks the desman among the most evolutionarily distinct endangered species. Funds field fellows worldwide. </a:t>
            </a:r>
            <a:r>
              <a:rPr lang="en-US" sz="1400" u="sng">
                <a:solidFill>
                  <a:schemeClr val="accent1"/>
                </a:solidFill>
                <a:latin typeface="Trebuchet MS"/>
                <a:hlinkClick r:id="rId6"/>
              </a:rPr>
              <a:t>Donate</a:t>
            </a:r>
          </a:p>
        </p:txBody>
      </p:sp>
      <p:sp>
        <p:nvSpPr>
          <p:cNvPr id="1009" name="TextBox"/>
          <p:cNvSpPr txBox="1">
            <a:spLocks/>
          </p:cNvSpPr>
          <p:nvPr/>
        </p:nvSpPr>
        <p:spPr>
          <a:xfrm>
            <a:off x="3982154" y="5132615"/>
            <a:ext cx="3540310" cy="1268185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 xml:space="preserve">The journalism platform that published the definitive article on desman conservation. </a:t>
            </a:r>
            <a:r>
              <a:rPr lang="en-US" sz="1400" u="sng">
                <a:solidFill>
                  <a:schemeClr val="accent1"/>
                </a:solidFill>
                <a:latin typeface="Trebuchet MS"/>
                <a:hlinkClick r:id="rId4"/>
              </a:rPr>
              <a:t>Support their reporting</a:t>
            </a:r>
          </a:p>
        </p:txBody>
      </p:sp>
      <p:cxnSp>
        <p:nvCxnSpPr>
          <p:cNvPr id="1010" name="Line"/>
          <p:cNvCxnSpPr/>
          <p:nvPr/>
        </p:nvCxnSpPr>
        <p:spPr>
          <a:xfrm>
            <a:off x="554736" y="3727272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cxnSp>
        <p:nvCxnSpPr>
          <p:cNvPr id="1011" name="Line"/>
          <p:cNvCxnSpPr/>
          <p:nvPr/>
        </p:nvCxnSpPr>
        <p:spPr>
          <a:xfrm>
            <a:off x="554736" y="5086895"/>
            <a:ext cx="6967728" cy="0"/>
          </a:xfrm>
          <a:prstGeom prst="line">
            <a:avLst/>
          </a:prstGeom>
          <a:ln w="6350">
            <a:solidFill>
              <a:schemeClr val="dk2"/>
            </a:solidFill>
          </a:ln>
        </p:spPr>
      </p:cxnSp>
      <p:sp>
        <p:nvSpPr>
          <p:cNvPr id="1012" name="TextBox"/>
          <p:cNvSpPr txBox="1">
            <a:spLocks/>
          </p:cNvSpPr>
          <p:nvPr/>
        </p:nvSpPr>
        <p:spPr>
          <a:xfrm>
            <a:off x="8173371" y="1714001"/>
            <a:ext cx="3465576" cy="4732519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354" rtl="0" eaLnBrk="1" latinLnBrk="0" hangingPunct="1">
              <a:lnSpc>
                <a:spcPct val="114000"/>
              </a:lnSpc>
              <a:spcBef>
                <a:spcPts val="50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1pPr>
            <a:lvl2pPr marL="228600" indent="-228600" algn="l" defTabSz="914354" rtl="0" eaLnBrk="1" latinLnBrk="0" hangingPunct="1">
              <a:lnSpc>
                <a:spcPct val="114000"/>
              </a:lnSpc>
              <a:spcBef>
                <a:spcPts val="250"/>
              </a:spcBef>
              <a:spcAft>
                <a:spcPts val="0"/>
              </a:spcAft>
              <a:buFont typeface="Trebuchet MS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2pPr>
            <a:lvl3pPr marL="4572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3pPr>
            <a:lvl4pPr marL="6858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4pPr>
            <a:lvl5pPr marL="914400" indent="-228600" algn="l" defTabSz="914354" rtl="0" eaLnBrk="1" latinLnBrk="0" hangingPunct="1">
              <a:lnSpc>
                <a:spcPct val="114000"/>
              </a:lnSpc>
              <a:spcBef>
                <a:spcPts val="125"/>
              </a:spcBef>
              <a:spcAft>
                <a:spcPts val="0"/>
              </a:spcAft>
              <a:buFont typeface="Trebuchet MS" pitchFamily="34" charset="0"/>
              <a:buChar char="›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5pPr>
            <a:lvl6pPr marL="1143000" indent="-228600" algn="l" defTabSz="914354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◦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6pPr>
            <a:lvl7pPr marL="914400" indent="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7pPr>
            <a:lvl8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8pPr>
            <a:lvl9pPr marL="1143000" indent="-228600" algn="l" defTabSz="91435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rebuchet MS" pitchFamily="34" charset="0"/>
              <a:buChar char="▫"/>
              <a:defRPr sz="1400" kern="1200">
                <a:solidFill>
                  <a:schemeClr val="tx1"/>
                </a:solidFill>
                <a:latin typeface="+mn-lt"/>
                <a:cs typeface="Trebuchet MS" pitchFamily="34" charset="0"/>
              </a:defRPr>
            </a:lvl9pPr>
          </a:lstStyle>
          <a:p>
            <a:pPr lvl="0" algn="l"/>
            <a:r>
              <a:rPr lang="en-US" sz="1400" b="1">
                <a:solidFill>
                  <a:schemeClr val="accent1"/>
                </a:solidFill>
                <a:latin typeface="Trebuchet MS"/>
              </a:rPr>
              <a:t>The people</a:t>
            </a:r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Masha &amp; Sasha Onufreni (Oka Reserve) — have studied the desman since 1975. Masha is 72, retired, works as a volunteer. She loses 5 kg each survey season from wading through 120 lakes in chest-deep freezing water.</a:t>
            </a:r>
          </a:p>
          <a:p>
            <a:pPr lvl="0" algn="l"/>
            <a:endParaRPr lang="en-US"/>
          </a:p>
          <a:p>
            <a:pPr lvl="0" algn="l"/>
            <a:r>
              <a:rPr lang="en-US" sz="1400">
                <a:solidFill>
                  <a:schemeClr val="tx1"/>
                </a:solidFill>
                <a:latin typeface="Trebuchet MS"/>
              </a:rPr>
              <a:t>Dr Marina Rutovskaya (Severtsov Institute) — leads the Desmana Club, a network of volunteers who help count burrows. Funds expeditions from her family budget.</a:t>
            </a:r>
          </a:p>
          <a:p>
            <a:pPr lvl="0" algn="l"/>
            <a:endParaRPr lang="en-US"/>
          </a:p>
          <a:p>
            <a:pPr lvl="0" algn="l"/>
            <a:r>
              <a:rPr lang="en-US" sz="1400" b="1">
                <a:solidFill>
                  <a:schemeClr val="accent1"/>
                </a:solidFill>
                <a:latin typeface="Trebuchet MS"/>
              </a:rPr>
              <a:t>Follow them</a:t>
            </a:r>
          </a:p>
          <a:p>
            <a:pPr lvl="0" algn="l"/>
            <a:r>
              <a:rPr lang="en-US" sz="1400" u="sng">
                <a:solidFill>
                  <a:schemeClr val="accent1"/>
                </a:solidFill>
                <a:latin typeface="Trebuchet MS"/>
                <a:hlinkClick r:id="rId2"/>
              </a:rPr>
              <a:t>instagram.com/desmana_club</a:t>
            </a:r>
          </a:p>
          <a:p>
            <a:pPr lvl="0" algn="l"/>
            <a:r>
              <a:rPr lang="en-US" sz="1400" u="sng">
                <a:solidFill>
                  <a:schemeClr val="accent1"/>
                </a:solidFill>
                <a:latin typeface="Trebuchet MS"/>
                <a:hlinkClick r:id="rId3"/>
              </a:rPr>
              <a:t>vk.com/desmana_club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“For a hare or a tiger I wouldn’t still be working.</a:t>
            </a:r>
            <a:br/>
            <a:r>
              <a:t>But for the desman — I must.”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— Masha Onufrenya, age 72, retired.</a:t>
            </a:r>
            <a:br/>
            <a:r>
              <a:t>Still wading through 120 lakes every autumn.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581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heme/theme1.xml><?xml version="1.0" encoding="utf-8"?>
<a:theme xmlns:a="http://schemas.openxmlformats.org/drawingml/2006/main" name="Example – Warm Editorial">
  <a:themeElements>
    <a:clrScheme name="Warm Editorial">
      <a:dk1>
        <a:srgbClr val="1C1917"/>
      </a:dk1>
      <a:lt1>
        <a:srgbClr val="FAFAF9"/>
      </a:lt1>
      <a:dk2>
        <a:srgbClr val="57534E"/>
      </a:dk2>
      <a:lt2>
        <a:srgbClr val="E7E5E4"/>
      </a:lt2>
      <a:accent1>
        <a:srgbClr val="C2410C"/>
      </a:accent1>
      <a:accent2>
        <a:srgbClr val="0D9488"/>
      </a:accent2>
      <a:accent3>
        <a:srgbClr val="4F46E5"/>
      </a:accent3>
      <a:accent4>
        <a:srgbClr val="DB2777"/>
      </a:accent4>
      <a:accent5>
        <a:srgbClr val="059669"/>
      </a:accent5>
      <a:accent6>
        <a:srgbClr val="7C3AED"/>
      </a:accent6>
      <a:hlink>
        <a:srgbClr val="C2410C"/>
      </a:hlink>
      <a:folHlink>
        <a:srgbClr val="78716C"/>
      </a:folHlink>
    </a:clrScheme>
    <a:fontScheme name="Warm Editorial">
      <a:majorFont>
        <a:latin typeface="Rockwel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rebuchet MS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6350" cap="sq">
          <a:noFill/>
          <a:miter lim="800000"/>
        </a:ln>
      </a:spPr>
      <a:bodyPr rot="0" spcFirstLastPara="0" vertOverflow="overflow" horzOverflow="overflow" vert="horz" wrap="square" lIns="0" tIns="0" rIns="0" bIns="0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14377">
          <a:lnSpc>
            <a:spcPct val="114000"/>
          </a:lnSpc>
          <a:spcBef>
            <a:spcPts val="500"/>
          </a:spcBef>
          <a:buClrTx/>
          <a:buFont typeface="Segoe UI" panose="020B0502040204020203" pitchFamily="34" charset="0"/>
          <a:buChar char="​"/>
          <a:defRPr sz="1600" kern="1200" dirty="0">
            <a:solidFill>
              <a:schemeClr val="tx1"/>
            </a:solidFill>
            <a:ea typeface="Inter" panose="020B060402020202020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rgbClr val="FFFFFF">
            <a:alpha val="0"/>
          </a:srgbClr>
        </a:solidFill>
      </a:spPr>
      <a:bodyPr vert="horz" lIns="0" tIns="0" rIns="0" bIns="0" rtlCol="0" anchor="b" anchorCtr="0">
        <a:noAutofit/>
      </a:bodyPr>
      <a:lstStyle>
        <a:defPPr algn="l">
          <a:buClrTx/>
          <a:defRPr dirty="0" smtClean="0">
            <a:solidFill>
              <a:srgbClr val="0D193B"/>
            </a:solidFill>
          </a:defRPr>
        </a:defPPr>
      </a:lstStyle>
    </a:txDef>
  </a:objectDefaults>
  <a:extraClrSchemeLst>
    <a:extraClrScheme>
      <a:clrScheme name="Scheme White">
        <a:dk1>
          <a:srgbClr val="000000"/>
        </a:dk1>
        <a:lt1>
          <a:srgbClr val="F1F5F9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Clean Slides" id="{E774E0EA-0A1C-424A-9EB8-5D1611877CC6}" vid="{ADA53119-C731-48C6-9931-9DEAE6B837B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10470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Georgia</vt:lpstr>
      <vt:lpstr>Segoe UI</vt:lpstr>
      <vt:lpstr>Inter</vt:lpstr>
      <vt:lpstr>Aptos</vt:lpstr>
      <vt:lpstr>Arial</vt:lpstr>
      <vt:lpstr>Yu Mincho Demibold</vt:lpstr>
      <vt:lpstr>Clean Slides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Mustier</dc:creator>
  <cp:lastModifiedBy>Thomas Mustier</cp:lastModifiedBy>
  <cp:revision>402</cp:revision>
  <cp:lastPrinted>2025-07-01T22:35:02Z</cp:lastPrinted>
  <dcterms:created xsi:type="dcterms:W3CDTF">2025-01-29T23:48:17Z</dcterms:created>
  <dcterms:modified xsi:type="dcterms:W3CDTF">2026-02-06T18:44:30Z</dcterms:modified>
</cp:coreProperties>
</file>